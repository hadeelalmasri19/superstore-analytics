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4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6400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0" kern="0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GRADUATION PROJECT  |  ACADEMIC YEAR 2025 / 2026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4630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Analytics: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822960" y="23774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rgbClr val="EB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into Customer Behavior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2461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combined Business Intelligence, Forecasting, and Machine-Learning study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42062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EB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</a:t>
            </a:r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Hamzeh Alhindawi  ·  Hadeel Almasri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4709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EB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by </a:t>
            </a:r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Dr. Ayman Mansour</a:t>
            </a:r>
            <a:endParaRPr lang="en-US" sz="1600" dirty="0"/>
          </a:p>
        </p:txBody>
      </p:sp>
      <p:pic>
        <p:nvPicPr>
          <p:cNvPr id="9" name="Image 0" descr="/sessions/vibrant-epic-cannon/mnt/outputs/charts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0" y="4846320"/>
            <a:ext cx="1828800" cy="18288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EB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Petra  ·  Faculty of Information Technology  ·  Department of BI &amp; Data Analysis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Analytics — Graduation Defense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394960" cy="128016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97280"/>
            <a:ext cx="73152" cy="1280160"/>
          </a:xfrm>
          <a:prstGeom prst="rect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325880"/>
            <a:ext cx="777240" cy="777240"/>
          </a:xfrm>
          <a:prstGeom prst="ellipse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45920" y="126187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Problem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45920" y="173736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Background, problem statement, project objectives.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35040" y="1097280"/>
            <a:ext cx="5394960" cy="128016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35040" y="1097280"/>
            <a:ext cx="73152" cy="1280160"/>
          </a:xfrm>
          <a:prstGeom prst="rect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3640" y="1325880"/>
            <a:ext cx="777240" cy="777240"/>
          </a:xfrm>
          <a:prstGeom prst="ellipse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63640" y="13258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223760" y="126187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Tools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223760" y="173736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CRISP-DM workflow with Python, Power BI, RapidMiner.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423160"/>
            <a:ext cx="5394960" cy="128016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423160"/>
            <a:ext cx="73152" cy="1280160"/>
          </a:xfrm>
          <a:prstGeom prst="rect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2651760"/>
            <a:ext cx="777240" cy="777240"/>
          </a:xfrm>
          <a:prstGeom prst="ellipse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26517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645920" y="258775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Cleaning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645920" y="30632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Source, schema, data-quality fixes, final dataset.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035040" y="2423160"/>
            <a:ext cx="5394960" cy="128016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35040" y="2423160"/>
            <a:ext cx="73152" cy="1280160"/>
          </a:xfrm>
          <a:prstGeom prst="rect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63640" y="2651760"/>
            <a:ext cx="777240" cy="777240"/>
          </a:xfrm>
          <a:prstGeom prst="ellipse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63640" y="26517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223760" y="258775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223760" y="30632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charts revealing the structure of sales &amp; profit.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3749040"/>
            <a:ext cx="5394960" cy="128016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3749040"/>
            <a:ext cx="73152" cy="1280160"/>
          </a:xfrm>
          <a:prstGeom prst="rect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5800" y="3977640"/>
            <a:ext cx="777240" cy="777240"/>
          </a:xfrm>
          <a:prstGeom prst="ellipse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39776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645920" y="391363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&amp; Segmentation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645920" y="438912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 12-month forecast and RFM customer tiers.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035040" y="3749040"/>
            <a:ext cx="5394960" cy="128016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035040" y="3749040"/>
            <a:ext cx="73152" cy="1280160"/>
          </a:xfrm>
          <a:prstGeom prst="rect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63640" y="3977640"/>
            <a:ext cx="777240" cy="777240"/>
          </a:xfrm>
          <a:prstGeom prst="ellipse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63640" y="39776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7223760" y="391363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Classification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7223760" y="438912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profitability classifier + confusion matrix.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57200" y="5074920"/>
            <a:ext cx="5394960" cy="128016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7200" y="5074920"/>
            <a:ext cx="73152" cy="1280160"/>
          </a:xfrm>
          <a:prstGeom prst="rect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85800" y="5303520"/>
            <a:ext cx="777240" cy="777240"/>
          </a:xfrm>
          <a:prstGeom prst="ellipse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5800" y="53035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1645920" y="523951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Dashboards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1645920" y="571500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interactive views and RapidMiner workflow.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6035040" y="5074920"/>
            <a:ext cx="5394960" cy="128016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035040" y="5074920"/>
            <a:ext cx="73152" cy="1280160"/>
          </a:xfrm>
          <a:prstGeom prst="rect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263640" y="5303520"/>
            <a:ext cx="777240" cy="777240"/>
          </a:xfrm>
          <a:prstGeom prst="ellipse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63640" y="53035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7223760" y="523951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Recommendations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7223760" y="571500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numbers, business actions, next steps.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Background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Analytics — Graduation Defense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retail analytics?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6400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Retailers generate enormous transactional data, but few translate it into action.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 (BI) and Machine Learning (ML) close the "data-to-decision" gap.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is a publicly available, realistic retail dataset spanning four years and four U.S. regions.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combines descriptive, predictive, and prescriptive analytics on a single dataset.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589520" y="1280160"/>
            <a:ext cx="1920240" cy="137160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0" y="14173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8,708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589520" y="20574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B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transactions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692640" y="1280160"/>
            <a:ext cx="1920240" cy="137160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92640" y="14173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9692640" y="20574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B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of history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589520" y="2834640"/>
            <a:ext cx="1920240" cy="137160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0" y="29718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$2.99M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589520" y="36118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B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692640" y="2834640"/>
            <a:ext cx="1920240" cy="137160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92640" y="29718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9692640" y="36118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B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customers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5120640"/>
            <a:ext cx="11247120" cy="9144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5120640"/>
            <a:ext cx="73152" cy="914400"/>
          </a:xfrm>
          <a:prstGeom prst="rect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51663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 a tightening retail market, decisions must be guided by evidence, not intuition."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Analytics — Graduation Defense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Retailers have data — but lack a coherent analytical framework.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36576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91640"/>
            <a:ext cx="3657600" cy="109728"/>
          </a:xfrm>
          <a:prstGeom prst="rect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9202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 revenue and profit come from — and where are they leaking?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51960" y="1691640"/>
            <a:ext cx="36576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51960" y="1691640"/>
            <a:ext cx="3657600" cy="109728"/>
          </a:xfrm>
          <a:prstGeom prst="rect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34840" y="19202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434840" y="233172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aggressive discounts eroding margin instead of growing volume?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46720" y="1691640"/>
            <a:ext cx="36576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6720" y="1691640"/>
            <a:ext cx="3657600" cy="109728"/>
          </a:xfrm>
          <a:prstGeom prst="rect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19202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0" y="233172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business growing year over year, and what is the next-year forecast?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566160"/>
            <a:ext cx="36576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566160"/>
            <a:ext cx="3657600" cy="109728"/>
          </a:xfrm>
          <a:prstGeom prst="rect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7947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420624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customers are most valuable, at risk, or already lost?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251960" y="3566160"/>
            <a:ext cx="36576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51960" y="3566160"/>
            <a:ext cx="3657600" cy="109728"/>
          </a:xfrm>
          <a:prstGeom prst="rect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34840" y="37947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434840" y="420624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shipping consistent across regions and modes?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046720" y="3566160"/>
            <a:ext cx="36576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46720" y="3566160"/>
            <a:ext cx="3657600" cy="109728"/>
          </a:xfrm>
          <a:prstGeom prst="rect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0" y="37947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229600" y="420624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the profitability of an order be predicted before it is confirmed?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57200" y="5532120"/>
            <a:ext cx="11247120" cy="73152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55321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an analytical framework, retailers continue unprofitable promotions and misallocate budget.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Analytics — Graduation Defense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657600" cy="155448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97280"/>
            <a:ext cx="73152" cy="155448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325880"/>
            <a:ext cx="640080" cy="640080"/>
          </a:xfrm>
          <a:prstGeom prst="ellipse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17320" y="13258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and prepare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201168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 validated dataset by removing duplicates, normalizing dates, harmonizing labels, imputing missing values, and dropping outliers.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51960" y="1097280"/>
            <a:ext cx="3657600" cy="155448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51960" y="1097280"/>
            <a:ext cx="73152" cy="155448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80560" y="1325880"/>
            <a:ext cx="640080" cy="640080"/>
          </a:xfrm>
          <a:prstGeom prst="ellipse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0560" y="1325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212080" y="13258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and visualize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480560" y="201168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eight thematic charts describing sales and profit by category, region, sub-category, segment, and time.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46720" y="1097280"/>
            <a:ext cx="3657600" cy="155448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0" y="1097280"/>
            <a:ext cx="73152" cy="155448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75320" y="1325880"/>
            <a:ext cx="640080" cy="640080"/>
          </a:xfrm>
          <a:prstGeom prst="ellipse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75320" y="1325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006840" y="13258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demand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275320" y="201168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Prophet model on monthly sales and forecast twelve months ahead with calibrated uncertainty intervals.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2788920"/>
            <a:ext cx="3657600" cy="155448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2788920"/>
            <a:ext cx="73152" cy="155448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5800" y="3017520"/>
            <a:ext cx="640080" cy="640080"/>
          </a:xfrm>
          <a:prstGeom prst="ellipse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3017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417320" y="30175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customers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85800" y="370332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RFM framework to score 793 customers and group them into actionable behavioural tiers.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251960" y="2788920"/>
            <a:ext cx="3657600" cy="155448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251960" y="2788920"/>
            <a:ext cx="73152" cy="155448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480560" y="3017520"/>
            <a:ext cx="640080" cy="640080"/>
          </a:xfrm>
          <a:prstGeom prst="ellipse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80560" y="3017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212080" y="30175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profitability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480560" y="370332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benchmark Logistic Regression vs Random Forest, evaluate with confusion matrix and standard metrics.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046720" y="2788920"/>
            <a:ext cx="3657600" cy="155448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046720" y="2788920"/>
            <a:ext cx="73152" cy="155448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275320" y="3017520"/>
            <a:ext cx="640080" cy="640080"/>
          </a:xfrm>
          <a:prstGeom prst="ellipse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75320" y="3017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9006840" y="30175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dashboards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275320" y="370332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 interactive Power BI dashboard and a no-code RapidMiner workflow that mirror the Python results.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57200" y="6035040"/>
            <a:ext cx="11247120" cy="50292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603504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8 objectives stated in Chapter 1 of the report were met fully and cross-validated.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— CRISP-DM Workflow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Analytics — Graduation Defense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six-phase analytical lifecycle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80060" y="1737360"/>
            <a:ext cx="1828800" cy="146304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0060" y="19202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80060" y="2606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 rot="5400000">
            <a:off x="2290572" y="2359152"/>
            <a:ext cx="164592" cy="219456"/>
          </a:xfrm>
          <a:prstGeom prst="rtTriangle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54580" y="1737360"/>
            <a:ext cx="1828800" cy="146304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54580" y="19202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354580" y="2606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 rot="5400000">
            <a:off x="4165092" y="2359152"/>
            <a:ext cx="164592" cy="219456"/>
          </a:xfrm>
          <a:prstGeom prst="rtTriangle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29100" y="1737360"/>
            <a:ext cx="1828800" cy="146304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29100" y="19202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229100" y="2606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 rot="5400000">
            <a:off x="6039612" y="2359152"/>
            <a:ext cx="164592" cy="219456"/>
          </a:xfrm>
          <a:prstGeom prst="rtTriangle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03620" y="1737360"/>
            <a:ext cx="1828800" cy="146304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03620" y="19202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03620" y="2606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 rot="5400000">
            <a:off x="7914132" y="2359152"/>
            <a:ext cx="164592" cy="219456"/>
          </a:xfrm>
          <a:prstGeom prst="rtTriangle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978140" y="1737360"/>
            <a:ext cx="1828800" cy="146304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78140" y="19202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978140" y="2606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 rot="5400000">
            <a:off x="9788652" y="2359152"/>
            <a:ext cx="164592" cy="219456"/>
          </a:xfrm>
          <a:prstGeom prst="rtTriangle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852660" y="1737360"/>
            <a:ext cx="1828800" cy="146304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52660" y="19202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852660" y="2606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0060" y="33832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questions retailers care about.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354580" y="33832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rows, columns, types, and quality.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229100" y="33832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and validate the analytical dataset.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103620" y="33832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EDA, Prophet, RFM, classification.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978140" y="33832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Cross-tool validation; metric checks.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852660" y="33832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&amp; graduation report.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4937760"/>
            <a:ext cx="11247120" cy="146304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" y="4937760"/>
            <a:ext cx="73152" cy="1463040"/>
          </a:xfrm>
          <a:prstGeom prst="rect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" y="5029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controls applied throughout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31520" y="54406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Before/after counters audit every cleaning step.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Totals reconciled across Python and Power BI.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pruned to a single message each.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 evaluated on a held-out test set with stratified sampling.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Analytics — Graduation Defense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complementary platforms cover the full code-to-no-code spectrum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6576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54480"/>
            <a:ext cx="3657600" cy="548640"/>
          </a:xfrm>
          <a:prstGeom prst="rect">
            <a:avLst/>
          </a:prstGeom>
          <a:solidFill>
            <a:srgbClr val="3776AB"/>
          </a:solidFill>
          <a:ln w="12700">
            <a:solidFill>
              <a:srgbClr val="3776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737360" y="2331720"/>
            <a:ext cx="1097280" cy="1097280"/>
          </a:xfrm>
          <a:prstGeom prst="ellipse">
            <a:avLst/>
          </a:prstGeom>
          <a:solidFill>
            <a:srgbClr val="F7FAFC"/>
          </a:solidFill>
          <a:ln w="38100">
            <a:solidFill>
              <a:srgbClr val="3776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37360" y="23317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731520" y="365760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preparation, EDA,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 forecasting, scikit-learn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5120640"/>
            <a:ext cx="3291840" cy="4572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51206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pandas · numpy · matplotlib · seaborn · prophet · scikit-learn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51960" y="1554480"/>
            <a:ext cx="36576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51960" y="1554480"/>
            <a:ext cx="3657600" cy="548640"/>
          </a:xfrm>
          <a:prstGeom prst="rect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51960" y="15544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532120" y="2331720"/>
            <a:ext cx="1097280" cy="1097280"/>
          </a:xfrm>
          <a:prstGeom prst="ellipse">
            <a:avLst/>
          </a:prstGeom>
          <a:solidFill>
            <a:srgbClr val="F7FAFC"/>
          </a:solidFill>
          <a:ln w="38100">
            <a:solidFill>
              <a:srgbClr val="F2C81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32120" y="23317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4526280" y="365760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dashboards, DAX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measures, slicers, drill-through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decision-makers.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434840" y="5120640"/>
            <a:ext cx="3291840" cy="4572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34840" y="51206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Power Query · DAX · CALENDARAUTO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046720" y="1554480"/>
            <a:ext cx="36576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46720" y="1554480"/>
            <a:ext cx="3657600" cy="548640"/>
          </a:xfrm>
          <a:prstGeom prst="rect">
            <a:avLst/>
          </a:prstGeom>
          <a:solidFill>
            <a:srgbClr val="F58220"/>
          </a:solidFill>
          <a:ln w="12700">
            <a:solidFill>
              <a:srgbClr val="F582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46720" y="15544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RapidMiner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9326880" y="2331720"/>
            <a:ext cx="1097280" cy="1097280"/>
          </a:xfrm>
          <a:prstGeom prst="ellipse">
            <a:avLst/>
          </a:prstGeom>
          <a:solidFill>
            <a:srgbClr val="F7FAFC"/>
          </a:solidFill>
          <a:ln w="38100">
            <a:solidFill>
              <a:srgbClr val="F5822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26880" y="23317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400" dirty="0"/>
          </a:p>
        </p:txBody>
      </p:sp>
      <p:sp>
        <p:nvSpPr>
          <p:cNvPr id="26" name="Text 24"/>
          <p:cNvSpPr/>
          <p:nvPr/>
        </p:nvSpPr>
        <p:spPr>
          <a:xfrm>
            <a:off x="8321040" y="365760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no-code workflow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categorical aggregations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benchmark charts.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229600" y="5120640"/>
            <a:ext cx="3291840" cy="4572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0" y="51206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 CSV · Generate Attributes · Filter · Aggregate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pipeline → cross-validated insights → defensible recommendations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Analytics — Graduation Defense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retail dataset — open dataset from Kaggle, four years of U.S. transactions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2743200" cy="137160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73736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8,708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7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F7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37560" y="1600200"/>
            <a:ext cx="2743200" cy="137160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37560" y="173736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337560" y="24688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7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including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F7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engineered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1600200"/>
            <a:ext cx="2743200" cy="1371600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173736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6217920" y="24688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7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F7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(2014 – 2017)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098280" y="1600200"/>
            <a:ext cx="2743200" cy="1371600"/>
          </a:xfrm>
          <a:prstGeom prst="rect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98280" y="173736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9098280" y="24688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7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F7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sub-categories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3200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groups &amp; roles</a:t>
            </a:r>
            <a:endParaRPr lang="en-US" sz="1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611880"/>
          <a:ext cx="11247120" cy="2468880"/>
        </p:xfrm>
        <a:graphic>
          <a:graphicData uri="http://schemas.openxmlformats.org/drawingml/2006/table">
            <a:tbl>
              <a:tblPr/>
              <a:tblGrid>
                <a:gridCol w="2286000"/>
                <a:gridCol w="1188720"/>
                <a:gridCol w="7772400"/>
              </a:tblGrid>
              <a:tr h="3086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 ID, Order ID, Customer 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Date, Ship Date, Order Year, Quarter, Month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Name, Segment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Geography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Country, State, City, Postal Code, Region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ID, Product Name, Category, Sub-Category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Sales, Quantity, Discount, Profit, Profit Margin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Ship Days, Is Profitable, Has Discount, …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57200" y="62636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i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balance for ML target (Is Profitable):  ~81.5% profitable  /  ~18.5% loss-making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Pipeline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Analytics — Graduation Defense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9,994 rows  →  validated 8,708 rows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02920" cy="502920"/>
          </a:xfrm>
          <a:prstGeom prst="ellipse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16002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duplicates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267712"/>
            <a:ext cx="502920" cy="502920"/>
          </a:xfrm>
          <a:prstGeom prst="ellipse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2677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2313432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mixed date formats (5 formats)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980944"/>
            <a:ext cx="502920" cy="502920"/>
          </a:xfrm>
          <a:prstGeom prst="ellipse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9809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3026664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"$" from Sales and convert to numeric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694176"/>
            <a:ext cx="502920" cy="502920"/>
          </a:xfrm>
          <a:prstGeom prst="ellipse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6941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3739896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categorical labels (4 columns)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4407408"/>
            <a:ext cx="502920" cy="502920"/>
          </a:xfrm>
          <a:prstGeom prst="ellipse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4074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97280" y="4453128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 missing values (median / mode)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5120640"/>
            <a:ext cx="502920" cy="502920"/>
          </a:xfrm>
          <a:prstGeom prst="ellipse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5120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97280" y="516636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outliers and impossible values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0" y="1554480"/>
            <a:ext cx="5303520" cy="4297680"/>
          </a:xfrm>
          <a:prstGeom prst="rect">
            <a:avLst/>
          </a:prstGeom>
          <a:solidFill>
            <a:srgbClr val="0F2444"/>
          </a:solidFill>
          <a:ln w="12700">
            <a:solidFill>
              <a:srgbClr val="0F244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0" y="1554480"/>
            <a:ext cx="73152" cy="4297680"/>
          </a:xfrm>
          <a:prstGeom prst="rect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0" y="16916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8A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Outlier filter (Step 6)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583680" y="2103120"/>
            <a:ext cx="50292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7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df[df['Sales']    &gt; 0]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7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df[df['Sales']    &lt; 50000]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7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df[df['Profit']   &gt; -5000]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7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df[df['Profit']   &lt; 50000]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7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df[df['Quantity'] &gt; 0]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7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df[(df['Discount'] &gt;= 0) &amp; (df['Discount'] &lt;= 1)]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7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7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df.to_csv('Clean_Superstore.csv', index=False)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5943600"/>
            <a:ext cx="11247120" cy="502920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59436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dataset: 8,708 rows × 30 columns  ·  zero missing values  ·  passes all sanity checks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— Sales &amp; Profit by Category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Analytics — Graduation Defense</a:t>
            </a:r>
            <a:endParaRPr lang="en-US" sz="1000" dirty="0"/>
          </a:p>
        </p:txBody>
      </p:sp>
      <p:pic>
        <p:nvPicPr>
          <p:cNvPr id="4" name="Image 0" descr="/sessions/vibrant-epic-cannon/mnt/outputs/charts/chart1_category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7315200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955280" y="1097280"/>
            <a:ext cx="3749040" cy="41148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955280" y="1097280"/>
            <a:ext cx="73152" cy="4114800"/>
          </a:xfrm>
          <a:prstGeom prst="rect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92440" y="1188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092440" y="155448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Supplies dominates revenue, but Technology delivers the same profit on 47% less revenue.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92440" y="301752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Supplies: $1.44M sales · $113K profit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Technology: $0.76M sales · $115K profit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Furniture: $0.79M sales · only $13K profit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092440" y="45262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≠ profitability. A second axis is required.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5440680"/>
            <a:ext cx="11247120" cy="96012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" y="5440680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i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review pricing &amp; product mix in Furniture before any further marketing investment.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— Sales &amp; Profit by Region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Analytics — Graduation Defense</a:t>
            </a:r>
            <a:endParaRPr lang="en-US" sz="1000" dirty="0"/>
          </a:p>
        </p:txBody>
      </p:sp>
      <p:pic>
        <p:nvPicPr>
          <p:cNvPr id="4" name="Image 0" descr="/sessions/vibrant-epic-cannon/mnt/outputs/charts/chart2_region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7315200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955280" y="1097280"/>
            <a:ext cx="3749040" cy="41148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955280" y="1097280"/>
            <a:ext cx="73152" cy="4114800"/>
          </a:xfrm>
          <a:prstGeom prst="rect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92440" y="1188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matters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092440" y="155448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&amp; East deliver two-thirds of revenue and the bulk of profit.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92440" y="274320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East: $951K sales · $82K profit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West: $869K sales · $88K profit (highest margin)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Central: $626K sales but only $32K profit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South: smallest but healthy margin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092440" y="46634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is the operational efficiency hot-spot.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5440680"/>
            <a:ext cx="11247120" cy="96012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" y="5440680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i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invest growth budget in West; launch operational review in Central.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— Profit by Sub-Category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Analytics — Graduation Defense</a:t>
            </a:r>
            <a:endParaRPr lang="en-US" sz="1000" dirty="0"/>
          </a:p>
        </p:txBody>
      </p:sp>
      <p:pic>
        <p:nvPicPr>
          <p:cNvPr id="4" name="Image 0" descr="/sessions/vibrant-epic-cannon/mnt/outputs/charts/chart4_subcategory_profit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7315200" cy="4572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955280" y="1097280"/>
            <a:ext cx="3749040" cy="4572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955280" y="1097280"/>
            <a:ext cx="73152" cy="4572000"/>
          </a:xfrm>
          <a:prstGeom prst="rect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92440" y="1188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Loss-makers exposed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092440" y="16002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Loss-makers (red)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092440" y="196596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20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Tables    -$15,754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20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Bookcases -$2,482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20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Supplies  -$1,169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092440" y="32461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Stars (green)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092440" y="361188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20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Phones      $37,628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20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Copiers     $37,178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20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Accessories $36,673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092440" y="48920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-$19,400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8092440" y="53492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four-year loss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5897880"/>
            <a:ext cx="11247120" cy="54864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7200" y="589788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discontinue or reprice Tables, Bookcases, and Supplies.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— Discount vs Profit  (the big finding)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Analytics — Graduation Defense</a:t>
            </a:r>
            <a:endParaRPr lang="en-US" sz="1000" dirty="0"/>
          </a:p>
        </p:txBody>
      </p:sp>
      <p:pic>
        <p:nvPicPr>
          <p:cNvPr id="4" name="Image 0" descr="/sessions/vibrant-epic-cannon/mnt/outputs/charts/chart6_discount_profit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7315200" cy="4023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955280" y="1051560"/>
            <a:ext cx="3749040" cy="402336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955280" y="123444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6000" dirty="0"/>
          </a:p>
        </p:txBody>
      </p:sp>
      <p:sp>
        <p:nvSpPr>
          <p:cNvPr id="7" name="Text 4"/>
          <p:cNvSpPr/>
          <p:nvPr/>
        </p:nvSpPr>
        <p:spPr>
          <a:xfrm>
            <a:off x="7955280" y="22402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7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threshold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092440" y="27432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0%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601200" y="2743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8A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+$65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092440" y="31089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10%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601200" y="31089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8A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+$101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092440" y="34747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20%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9601200" y="34747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69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+$25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092440" y="38404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30%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9601200" y="38404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53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-$47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092440" y="42062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40%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9601200" y="42062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53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-$109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092440" y="45720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50%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9601200" y="45720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53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-$323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457200" y="5349240"/>
            <a:ext cx="11247120" cy="109728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57200" y="5349240"/>
            <a:ext cx="109728" cy="1097280"/>
          </a:xfrm>
          <a:prstGeom prst="rect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0080" y="54406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pPr indent="0" marL="0">
              <a:buNone/>
            </a:pPr>
            <a:r>
              <a:rPr lang="en-US" sz="1600" i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discounts at 20%. Anything beyond requires managerial approval — confirmed by Pearson r = -0.234 and ML feature importance of 0.62.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— Time Trends &amp; Correlation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Analytics — Graduation Defense</a:t>
            </a:r>
            <a:endParaRPr lang="en-US" sz="1000" dirty="0"/>
          </a:p>
        </p:txBody>
      </p:sp>
      <p:pic>
        <p:nvPicPr>
          <p:cNvPr id="4" name="Image 0" descr="/sessions/vibrant-epic-cannon/mnt/outputs/charts/chart3_monthly_trend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5852160" cy="2743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384048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trend by year</a:t>
            </a:r>
            <a:endParaRPr lang="en-US" sz="1300" dirty="0"/>
          </a:p>
        </p:txBody>
      </p:sp>
      <p:pic>
        <p:nvPicPr>
          <p:cNvPr id="6" name="Image 1" descr="/sessions/vibrant-epic-cannon/mnt/outputs/charts/chart8_correlation_h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097280"/>
            <a:ext cx="5120640" cy="2743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583680" y="38404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heatmap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457200" y="4434840"/>
            <a:ext cx="3657600" cy="155448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457200" y="4434840"/>
            <a:ext cx="73152" cy="155448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40080" y="46177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Holiday peaks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640080" y="507492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year shows a strong Q4 spike — staffing &amp; inventory must follow.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279392" y="4434840"/>
            <a:ext cx="3657600" cy="155448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279392" y="4434840"/>
            <a:ext cx="73152" cy="155448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462272" y="46177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levels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462272" y="507492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 sales up +88% over 2016. Trigger to investigate the success drivers.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101584" y="4434840"/>
            <a:ext cx="3657600" cy="155448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101584" y="4434840"/>
            <a:ext cx="73152" cy="155448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8284464" y="46177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drives loss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8284464" y="507492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↔ Discount r = -0.234 — strongest signal in the matrix.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— Prophet (12 months ahead)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Analytics — Graduation Defense</a:t>
            </a:r>
            <a:endParaRPr lang="en-US" sz="1000" dirty="0"/>
          </a:p>
        </p:txBody>
      </p:sp>
      <p:pic>
        <p:nvPicPr>
          <p:cNvPr id="4" name="Image 0" descr="/sessions/vibrant-epic-cannon/mnt/outputs/charts/chart9_forecast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7680960" cy="42976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321040" y="1051560"/>
            <a:ext cx="3383280" cy="429768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458200" y="11887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configuration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458200" y="160020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F7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Granularity: monthly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F7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Yearly seasonality: 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F7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Daily/weekly: OFF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F7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Mode: multiplicative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F7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Horizon: 12 months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458200" y="32461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458200" y="365760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F7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remains upward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F7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holiday peak in Q4 2018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F7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band widens with horizon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5486400"/>
            <a:ext cx="11247120" cy="96012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" y="5486400"/>
            <a:ext cx="73152" cy="960120"/>
          </a:xfrm>
          <a:prstGeom prst="rect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" y="5486400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</a:t>
            </a:r>
            <a:pPr indent="0" marL="0">
              <a:buNone/>
            </a:pPr>
            <a:r>
              <a:rPr lang="en-US" sz="1400" i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and staffing for Q4 2018 at 2017 levels plus the trend uplift, with safety stock around the upper confidence bound.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Customer Segmentation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Analytics — Graduation Defense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793 unique customers grouped into 5 actionable tiers based on Recency, Frequency, Monetary value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249424" cy="548640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103120"/>
            <a:ext cx="2249424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00200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2249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22494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207</a:t>
            </a:r>
            <a:endParaRPr lang="en-US" sz="5000" dirty="0"/>
          </a:p>
        </p:txBody>
      </p:sp>
      <p:sp>
        <p:nvSpPr>
          <p:cNvPr id="10" name="Text 8"/>
          <p:cNvSpPr/>
          <p:nvPr/>
        </p:nvSpPr>
        <p:spPr>
          <a:xfrm>
            <a:off x="457200" y="3611880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3977640"/>
            <a:ext cx="19751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+ frequent + high spend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70632" y="1554480"/>
            <a:ext cx="2249424" cy="54864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70632" y="2103120"/>
            <a:ext cx="2249424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70632" y="1600200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♥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770632" y="2194560"/>
            <a:ext cx="2249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 Customers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770632" y="2651760"/>
            <a:ext cx="22494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194</a:t>
            </a:r>
            <a:endParaRPr lang="en-US" sz="5000" dirty="0"/>
          </a:p>
        </p:txBody>
      </p:sp>
      <p:sp>
        <p:nvSpPr>
          <p:cNvPr id="17" name="Text 15"/>
          <p:cNvSpPr/>
          <p:nvPr/>
        </p:nvSpPr>
        <p:spPr>
          <a:xfrm>
            <a:off x="2770632" y="3611880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907792" y="3977640"/>
            <a:ext cx="19751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value, slightly less recent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84064" y="1554480"/>
            <a:ext cx="2249424" cy="548640"/>
          </a:xfrm>
          <a:prstGeom prst="rect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84064" y="2103120"/>
            <a:ext cx="2249424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84064" y="1600200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084064" y="2194560"/>
            <a:ext cx="2249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Loyalists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84064" y="2651760"/>
            <a:ext cx="22494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</a:t>
            </a:r>
            <a:endParaRPr lang="en-US" sz="5000" dirty="0"/>
          </a:p>
        </p:txBody>
      </p:sp>
      <p:sp>
        <p:nvSpPr>
          <p:cNvPr id="24" name="Text 22"/>
          <p:cNvSpPr/>
          <p:nvPr/>
        </p:nvSpPr>
        <p:spPr>
          <a:xfrm>
            <a:off x="5084064" y="3611880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221224" y="3977640"/>
            <a:ext cx="19751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pattern, not yet retained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397496" y="1554480"/>
            <a:ext cx="2249424" cy="548640"/>
          </a:xfrm>
          <a:prstGeom prst="rect">
            <a:avLst/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97496" y="2103120"/>
            <a:ext cx="2249424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97496" y="1600200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7397496" y="2194560"/>
            <a:ext cx="2249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Risk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397496" y="2651760"/>
            <a:ext cx="22494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142</a:t>
            </a:r>
            <a:endParaRPr lang="en-US" sz="5000" dirty="0"/>
          </a:p>
        </p:txBody>
      </p:sp>
      <p:sp>
        <p:nvSpPr>
          <p:cNvPr id="31" name="Text 29"/>
          <p:cNvSpPr/>
          <p:nvPr/>
        </p:nvSpPr>
        <p:spPr>
          <a:xfrm>
            <a:off x="7397496" y="3611880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534656" y="3977640"/>
            <a:ext cx="19751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declining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710928" y="1554480"/>
            <a:ext cx="2249424" cy="54864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710928" y="2103120"/>
            <a:ext cx="2249424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710928" y="1600200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9710928" y="2194560"/>
            <a:ext cx="2249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Customers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9710928" y="2651760"/>
            <a:ext cx="22494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5000" dirty="0"/>
          </a:p>
        </p:txBody>
      </p:sp>
      <p:sp>
        <p:nvSpPr>
          <p:cNvPr id="38" name="Text 36"/>
          <p:cNvSpPr/>
          <p:nvPr/>
        </p:nvSpPr>
        <p:spPr>
          <a:xfrm>
            <a:off x="9710928" y="3611880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848088" y="3977640"/>
            <a:ext cx="19751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longer active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57200" y="5532120"/>
            <a:ext cx="11247120" cy="91440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7200" y="5532120"/>
            <a:ext cx="109728" cy="914400"/>
          </a:xfrm>
          <a:prstGeom prst="rect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" y="55321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Differentiated marketing strategy: </a:t>
            </a:r>
            <a:pPr indent="0" marL="0">
              <a:buNone/>
            </a:pPr>
            <a:r>
              <a:rPr lang="en-US" sz="1400" i="1" dirty="0">
                <a:solidFill>
                  <a:srgbClr val="F7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Champions, retain Loyalists, upsell Potentials, reactivate At-Risk, win-back-or-retire Lost.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Classification — Confusion Matrix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Analytics — Graduation Defense</a:t>
            </a:r>
            <a:endParaRPr lang="en-US" sz="1000" dirty="0"/>
          </a:p>
        </p:txBody>
      </p:sp>
      <p:pic>
        <p:nvPicPr>
          <p:cNvPr id="4" name="Image 0" descr="/sessions/vibrant-epic-cannon/mnt/outputs/charts/confusion_matr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05840"/>
            <a:ext cx="5852160" cy="46634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0" y="1051560"/>
            <a:ext cx="269748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38A16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400800" y="1051560"/>
            <a:ext cx="2697480" cy="411480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0" y="1069848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0" y="150876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1,691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6492240" y="20116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Profitable orders correctly approved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9189720" y="1051560"/>
            <a:ext cx="269748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38A16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189720" y="1051560"/>
            <a:ext cx="2697480" cy="411480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189720" y="1069848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9189720" y="150876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314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9281160" y="20116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orders correctly flagged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400800" y="2514600"/>
            <a:ext cx="269748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C5303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400800" y="2514600"/>
            <a:ext cx="2697480" cy="41148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00800" y="2532888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400800" y="297180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</a:t>
            </a:r>
            <a:endParaRPr lang="en-US" sz="2800" dirty="0"/>
          </a:p>
        </p:txBody>
      </p:sp>
      <p:sp>
        <p:nvSpPr>
          <p:cNvPr id="19" name="Text 16"/>
          <p:cNvSpPr/>
          <p:nvPr/>
        </p:nvSpPr>
        <p:spPr>
          <a:xfrm>
            <a:off x="6492240" y="34747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orders missed by the model (Type I)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9189720" y="2514600"/>
            <a:ext cx="269748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DD6B2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9189720" y="2514600"/>
            <a:ext cx="2697480" cy="411480"/>
          </a:xfrm>
          <a:prstGeom prst="rect">
            <a:avLst/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189720" y="2532888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9189720" y="297180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2800" dirty="0"/>
          </a:p>
        </p:txBody>
      </p:sp>
      <p:sp>
        <p:nvSpPr>
          <p:cNvPr id="24" name="Text 21"/>
          <p:cNvSpPr/>
          <p:nvPr/>
        </p:nvSpPr>
        <p:spPr>
          <a:xfrm>
            <a:off x="9281160" y="34747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Profitable orders falsely flagged (Type II)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400800" y="4069080"/>
            <a:ext cx="5486400" cy="160020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537960" y="41605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 summary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6537960" y="452628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2,123 </a:t>
            </a:r>
            <a:pPr indent="0" marL="0">
              <a:buNone/>
            </a:pPr>
            <a:r>
              <a:rPr lang="en-US" sz="1400" dirty="0">
                <a:solidFill>
                  <a:srgbClr val="F7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held out for evaluation.   </a:t>
            </a:r>
            <a:pPr indent="0" marL="0">
              <a:buNone/>
            </a:pPr>
            <a:r>
              <a:rPr lang="en-US" sz="16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2,005 </a:t>
            </a:r>
            <a:pPr indent="0" marL="0">
              <a:buNone/>
            </a:pPr>
            <a:r>
              <a:rPr lang="en-US" sz="1400" dirty="0">
                <a:solidFill>
                  <a:srgbClr val="F7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correct,  </a:t>
            </a:r>
            <a:pPr indent="0" marL="0">
              <a:buNone/>
            </a:pPr>
            <a:r>
              <a:rPr lang="en-US" sz="16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118 </a:t>
            </a:r>
            <a:pPr indent="0" marL="0">
              <a:buNone/>
            </a:pPr>
            <a:r>
              <a:rPr lang="en-US" sz="1400" dirty="0">
                <a:solidFill>
                  <a:srgbClr val="F7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incorrect.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6537960" y="498348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7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Cost-asymmetry: each FP destroys money directly, each FN costs only review time. The model is well-balanced for this trade-off.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94.4% accuracy  ·  ROC-AUC 0.984  ·  ready for deployment as an order-validation flagger.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— Performance Metrics &amp; Feature Importance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Analytics — Graduation Defense</a:t>
            </a:r>
            <a:endParaRPr lang="en-US" sz="1000" dirty="0"/>
          </a:p>
        </p:txBody>
      </p:sp>
      <p:pic>
        <p:nvPicPr>
          <p:cNvPr id="4" name="Image 0" descr="/sessions/vibrant-epic-cannon/mnt/outputs/charts/model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05840"/>
            <a:ext cx="5943600" cy="3383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4348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vs Random Forest</a:t>
            </a:r>
            <a:endParaRPr lang="en-US" sz="1200" dirty="0"/>
          </a:p>
        </p:txBody>
      </p:sp>
      <p:pic>
        <p:nvPicPr>
          <p:cNvPr id="6" name="Image 1" descr="/sessions/vibrant-epic-cannon/mnt/outputs/charts/feature_importan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005840"/>
            <a:ext cx="5303520" cy="33832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92240" y="44348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(Random Forest)</a:t>
            </a:r>
            <a:endParaRPr lang="en-US" sz="1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937760"/>
          <a:ext cx="5943600" cy="1463040"/>
        </p:xfrm>
        <a:graphic>
          <a:graphicData uri="http://schemas.openxmlformats.org/drawingml/2006/table">
            <a:tbl>
              <a:tblPr/>
              <a:tblGrid>
                <a:gridCol w="1828800"/>
                <a:gridCol w="1371600"/>
                <a:gridCol w="1371600"/>
                <a:gridCol w="1371600"/>
              </a:tblGrid>
              <a:tr h="2438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69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7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7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69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6766560" y="4937760"/>
            <a:ext cx="5029200" cy="1463040"/>
          </a:xfrm>
          <a:prstGeom prst="rect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6766560" y="49834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= 0.62 importance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6766560" y="54406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times larger than the next feature.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6766560" y="585216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confirmation of the EDA insight: discount governance is the highest-leverage action.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— Interactive Dashboard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Analytics — Graduation Defense</a:t>
            </a:r>
            <a:endParaRPr lang="en-US" sz="1000" dirty="0"/>
          </a:p>
        </p:txBody>
      </p:sp>
      <p:pic>
        <p:nvPicPr>
          <p:cNvPr id="4" name="Image 0" descr="/sessions/vibrant-epic-cannon/mnt/outputs/charts/PBI_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7498080" cy="43891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0" y="1051560"/>
            <a:ext cx="3474720" cy="438912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229600" y="1051560"/>
            <a:ext cx="73152" cy="4389120"/>
          </a:xfrm>
          <a:prstGeom prst="rect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366760" y="11887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pages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412480" y="1737360"/>
            <a:ext cx="502920" cy="502920"/>
          </a:xfrm>
          <a:prstGeom prst="ellipse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41248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006840" y="169164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Overview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006840" y="214884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· Profit · Margin · Orders KPIs.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412480" y="2880360"/>
            <a:ext cx="502920" cy="502920"/>
          </a:xfrm>
          <a:prstGeom prst="ellipse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412480" y="2880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9006840" y="283464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&amp; Segment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9006840" y="329184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Choropleth + cross-filtered matrix.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412480" y="4023360"/>
            <a:ext cx="502920" cy="502920"/>
          </a:xfrm>
          <a:prstGeom prst="ellipse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41248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9006840" y="397764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Profitability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9006840" y="443484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× profit + DAX cost cards.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366760" y="5074920"/>
            <a:ext cx="3200400" cy="32004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366760" y="5074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with: DAX · Power Query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57200" y="5669280"/>
            <a:ext cx="11247120" cy="77724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7200" y="56692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Slicers + cross-filtering let any manager drill from headline KPIs to a single state in seconds.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RapidMiner — No-Code Workflow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Analytics — Graduation Defense</a:t>
            </a:r>
            <a:endParaRPr lang="en-US" sz="1000" dirty="0"/>
          </a:p>
        </p:txBody>
      </p:sp>
      <p:pic>
        <p:nvPicPr>
          <p:cNvPr id="4" name="Image 0" descr="/sessions/vibrant-epic-cannon/mnt/outputs/charts/RM_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7498080" cy="43891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0" y="1051560"/>
            <a:ext cx="3474720" cy="438912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229600" y="1051560"/>
            <a:ext cx="73152" cy="4389120"/>
          </a:xfrm>
          <a:prstGeom prst="rect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366760" y="11887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chain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412480" y="1691640"/>
            <a:ext cx="457200" cy="45720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41248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961120" y="1691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CSV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96112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Clean_Superstore.csv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8412480" y="2404872"/>
            <a:ext cx="457200" cy="45720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412480" y="2404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961120" y="24048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Attributes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961120" y="267919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 = Profit/Sales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8412480" y="3118104"/>
            <a:ext cx="457200" cy="45720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412480" y="3118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961120" y="31181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Examples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961120" y="339242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non-positive sales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8412480" y="3831336"/>
            <a:ext cx="457200" cy="45720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412480" y="3831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961120" y="38313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8961120" y="410565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Totals per category &amp; region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8412480" y="4544568"/>
            <a:ext cx="457200" cy="45720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412480" y="4544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8961120" y="45445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8961120" y="48188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charts in Result view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457200" y="5669280"/>
            <a:ext cx="11247120" cy="77724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57200" y="56692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conclusions as Python and Power BI — confirming the analysis is tool-independent.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Headline Numbers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Analytics — Graduation Defense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7432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97280"/>
            <a:ext cx="2743200" cy="13716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630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$2.99M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7889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 – 2017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1097280"/>
            <a:ext cx="27432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1097280"/>
            <a:ext cx="2743200" cy="13716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4630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$240K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3337560" y="23774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37560" y="27889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8.06% margin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097280"/>
            <a:ext cx="27432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1097280"/>
            <a:ext cx="2743200" cy="137160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14630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+88%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6217920" y="23774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 Growth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17920" y="27889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2016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98280" y="1097280"/>
            <a:ext cx="27432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98280" y="1097280"/>
            <a:ext cx="2743200" cy="137160"/>
          </a:xfrm>
          <a:prstGeom prst="rect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98280" y="14630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3800" dirty="0"/>
          </a:p>
        </p:txBody>
      </p:sp>
      <p:sp>
        <p:nvSpPr>
          <p:cNvPr id="22" name="Text 20"/>
          <p:cNvSpPr/>
          <p:nvPr/>
        </p:nvSpPr>
        <p:spPr>
          <a:xfrm>
            <a:off x="9098280" y="23774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Cap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098280" y="27889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destroys value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429000"/>
            <a:ext cx="27432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429000"/>
            <a:ext cx="2743200" cy="137160"/>
          </a:xfrm>
          <a:prstGeom prst="rect">
            <a:avLst/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7947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94.4%</a:t>
            </a:r>
            <a:endParaRPr lang="en-US" sz="3800" dirty="0"/>
          </a:p>
        </p:txBody>
      </p:sp>
      <p:sp>
        <p:nvSpPr>
          <p:cNvPr id="27" name="Text 25"/>
          <p:cNvSpPr/>
          <p:nvPr/>
        </p:nvSpPr>
        <p:spPr>
          <a:xfrm>
            <a:off x="457200" y="47091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 Accuracy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7200" y="51206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held-out test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337560" y="3429000"/>
            <a:ext cx="27432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37560" y="3429000"/>
            <a:ext cx="2743200" cy="13716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37560" y="37947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0.984</a:t>
            </a:r>
            <a:endParaRPr lang="en-US" sz="3800" dirty="0"/>
          </a:p>
        </p:txBody>
      </p:sp>
      <p:sp>
        <p:nvSpPr>
          <p:cNvPr id="32" name="Text 30"/>
          <p:cNvSpPr/>
          <p:nvPr/>
        </p:nvSpPr>
        <p:spPr>
          <a:xfrm>
            <a:off x="3337560" y="47091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337560" y="51206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ranking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217920" y="3429000"/>
            <a:ext cx="27432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17920" y="3429000"/>
            <a:ext cx="2743200" cy="137160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17920" y="37947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207</a:t>
            </a:r>
            <a:endParaRPr lang="en-US" sz="3800" dirty="0"/>
          </a:p>
        </p:txBody>
      </p:sp>
      <p:sp>
        <p:nvSpPr>
          <p:cNvPr id="37" name="Text 35"/>
          <p:cNvSpPr/>
          <p:nvPr/>
        </p:nvSpPr>
        <p:spPr>
          <a:xfrm>
            <a:off x="6217920" y="47091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Champions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217920" y="51206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highest-value buyers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9098280" y="3429000"/>
            <a:ext cx="27432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098280" y="3429000"/>
            <a:ext cx="2743200" cy="137160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098280" y="37947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3800" dirty="0"/>
          </a:p>
        </p:txBody>
      </p:sp>
      <p:sp>
        <p:nvSpPr>
          <p:cNvPr id="42" name="Text 40"/>
          <p:cNvSpPr/>
          <p:nvPr/>
        </p:nvSpPr>
        <p:spPr>
          <a:xfrm>
            <a:off x="9098280" y="47091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Customers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9098280" y="51206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win-back targets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57200" y="5897880"/>
            <a:ext cx="11247120" cy="54864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589788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Triangulated across Python, Power BI, and RapidMiner — robust to tool choice.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Managerial Recommendations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Analytics — Graduation Defense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5321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97280"/>
            <a:ext cx="137160" cy="2331720"/>
          </a:xfrm>
          <a:prstGeom prst="rect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28016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&amp; Promotion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1874520"/>
            <a:ext cx="49834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automatic discounts at 20%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Tables, Bookcases &amp; Supplies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price-elasticity tests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2200" y="1097280"/>
            <a:ext cx="55321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72200" y="1097280"/>
            <a:ext cx="137160" cy="23317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128016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Strategy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37960" y="1874520"/>
            <a:ext cx="49834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program for 207 Champions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Reactivation for 142 At Risk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Win-back test for 60 Lost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566160"/>
            <a:ext cx="55321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566160"/>
            <a:ext cx="137160" cy="2331720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74904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Excellence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2960" y="4343400"/>
            <a:ext cx="49834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2017 surge for replay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review of Central region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Tackle the long tail of slow shipments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72200" y="3566160"/>
            <a:ext cx="55321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72200" y="3566160"/>
            <a:ext cx="137160" cy="233172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37960" y="374904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Capability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537960" y="4343400"/>
            <a:ext cx="49834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Power BI to regional managers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forecasting cycle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RF classifier in order pipeline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6080760"/>
            <a:ext cx="11247120" cy="365760"/>
          </a:xfrm>
          <a:prstGeom prst="rect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60807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wins delivered first; structural changes scoped on a quarterly cadence.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Work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Analytics — Graduation Defense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532120" cy="507492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97280"/>
            <a:ext cx="137160" cy="507492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2344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77240" y="1828800"/>
            <a:ext cx="50292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4 years of history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Fictitious dataset — refunds, taxes, returns absent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uses only 3 behavioural signals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 forecasting (no exogenous regressors)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deployment monitoring for concept drift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72200" y="1097280"/>
            <a:ext cx="5532120" cy="507492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72200" y="1097280"/>
            <a:ext cx="137160" cy="5074920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2344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492240" y="1828800"/>
            <a:ext cx="50292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▶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Lifetime Value (BG/NBD, Pareto/NBD)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▶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Market-basket analysis (Apriori, FP-Growth)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▶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system (collaborative filtering)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▶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Multivariate forecasting (TFT, LSTM)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▶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optimization on the discount curve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▶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analytics and real-time alerts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Analytics — Graduation Defense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 and what it means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36576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45920"/>
            <a:ext cx="3657600" cy="137160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0" y="2103120"/>
            <a:ext cx="914400" cy="914400"/>
          </a:xfrm>
          <a:prstGeom prst="ellipse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2103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640080" y="32004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pipeline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374904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Cleaning, EDA, forecasting, segmentation, classification, and dashboards in one cohesive project.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79392" y="1645920"/>
            <a:ext cx="36576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79392" y="1645920"/>
            <a:ext cx="3657600" cy="13716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50992" y="2103120"/>
            <a:ext cx="914400" cy="91440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50992" y="2103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4462272" y="32004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Cross-tool validation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53712" y="374904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Power BI, and RapidMiner converge on the same conclusions.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101584" y="1645920"/>
            <a:ext cx="36576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01584" y="1645920"/>
            <a:ext cx="3657600" cy="137160"/>
          </a:xfrm>
          <a:prstGeom prst="rect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473184" y="2103120"/>
            <a:ext cx="914400" cy="914400"/>
          </a:xfrm>
          <a:prstGeom prst="ellipse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73184" y="2103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8284464" y="32004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output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375904" y="374904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Concrete, defensible recommendations for pricing, customers, operations, and analytics.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5212080"/>
            <a:ext cx="11247120" cy="123444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5212080"/>
            <a:ext cx="137160" cy="1234440"/>
          </a:xfrm>
          <a:prstGeom prst="rect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3492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7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replaces assumption with measurement —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40080" y="58064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turns a dirty CSV into a strategic asset.</a:t>
            </a:r>
            <a:endParaRPr lang="en-US" sz="2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24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46304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822960" y="2788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i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 ·  Discussion  ·  Defense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3611880"/>
            <a:ext cx="3657600" cy="45720"/>
          </a:xfrm>
          <a:prstGeom prst="rect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39319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7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Hamzeh Alhindawi  ·  Hadeel Almasri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4434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B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Dr. Ayman Mansour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4892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EB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Business Intelligence and Data Analysis  ·  University of Petra</a:t>
            </a:r>
            <a:endParaRPr lang="en-US" sz="1600" dirty="0"/>
          </a:p>
        </p:txBody>
      </p:sp>
      <p:pic>
        <p:nvPicPr>
          <p:cNvPr id="9" name="Image 0" descr="/sessions/vibrant-epic-cannon/mnt/outputs/charts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0" y="4206240"/>
            <a:ext cx="1828800" cy="18288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22960" y="63550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Analytics — Insights into Customer Behavior  |  May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Superstore Analytics — Insights into Customer Behavior</dc:title>
  <dc:subject>PptxGenJS Presentation</dc:subject>
  <dc:creator>Hamzeh Alhindawi &amp; Hadeel Almasri</dc:creator>
  <cp:lastModifiedBy>Hamzeh Alhindawi &amp; Hadeel Almasri</cp:lastModifiedBy>
  <cp:revision>1</cp:revision>
  <dcterms:created xsi:type="dcterms:W3CDTF">2026-05-11T12:19:52Z</dcterms:created>
  <dcterms:modified xsi:type="dcterms:W3CDTF">2026-05-11T12:19:52Z</dcterms:modified>
</cp:coreProperties>
</file>